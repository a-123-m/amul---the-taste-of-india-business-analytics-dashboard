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solidFill>
              <a:srgbClr val="FFF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423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664208"/>
            <a:ext cx="2121408" cy="246888"/>
          </a:xfrm>
          <a:prstGeom prst="rect">
            <a:avLst/>
          </a:prstGeom>
          <a:solidFill>
            <a:srgbClr val="087A3D"/>
          </a:solidFill>
          <a:ln>
            <a:solidFill>
              <a:srgbClr val="08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2057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THE TASTE OF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14300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087A3D"/>
                </a:solidFill>
                <a:latin typeface="Aptos Display"/>
              </a:rPr>
              <a:t>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664208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202020"/>
                </a:solidFill>
                <a:latin typeface="Aptos Display"/>
              </a:rPr>
              <a:t>Brand &amp; Developer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487168"/>
            <a:ext cx="6583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Colours  ·  Charts  ·  Typography  ·  Layout  · 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154680"/>
            <a:ext cx="6583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401568"/>
            <a:ext cx="1280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E31B23"/>
                </a:solidFill>
                <a:latin typeface="Aptos"/>
              </a:rPr>
              <a:t>VERSION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03320"/>
            <a:ext cx="5806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Proposed BI system for the Amul analytics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096512"/>
            <a:ext cx="5760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Structured after the uploaded Walmart BI guideline deck; adapted for Amul's visual language.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989320"/>
            <a:ext cx="6583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Proposed BI guideline — not an official Amul corporate brand manual.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325880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Brand Colour 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1709928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03911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39112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Background &amp; Surface Colours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423160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752344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52344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Chart Colour Usage Rules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3136391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465576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65576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Bar &amp; Column Chart Standards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3849624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178808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78808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Line &amp; Area Chart Standards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80160" y="4562856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892040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92040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Donut, Pie &amp; KPI Card Standards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5276088"/>
            <a:ext cx="4206240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0" y="1325880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1325880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Table &amp; Matrix Standards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59" y="1709928"/>
            <a:ext cx="4206241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203911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2039112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Typography &amp; Font Rules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66559" y="2423160"/>
            <a:ext cx="4206241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0" y="2752344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2752344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Layout, Slicers &amp; Navigation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66559" y="3136391"/>
            <a:ext cx="4206241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0" y="3465576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3465576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Interaction &amp; Advanced Power BI Patterns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66559" y="3849624"/>
            <a:ext cx="4206241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0" y="4178808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4178808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Do's &amp; Don'ts Quick Reference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66559" y="4562856"/>
            <a:ext cx="4206241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01  BRAND COLOUR PALETTE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Proposed Power BI palette inspired by Amul's red, green, yellow and blue visual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Amul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317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Primary brand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974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#E31B23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087A3D"/>
          </a:solidFill>
          <a:ln>
            <a:solidFill>
              <a:srgbClr val="08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9659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Amul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317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Secondary / 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974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#087A3D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7830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F7C600"/>
          </a:solidFill>
          <a:ln>
            <a:solidFill>
              <a:srgbClr val="F7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Aptos"/>
              </a:rPr>
              <a:t>Amul 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Aptos"/>
              </a:rPr>
              <a:t>Accent /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6974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#F7C600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118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0057A8"/>
          </a:solidFill>
          <a:ln>
            <a:solidFill>
              <a:srgbClr val="00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7947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Amul 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1605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Supporting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5262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#0057A8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118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37947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Charcoal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1605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Text /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5262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#202020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611880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37947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Aptos"/>
              </a:rPr>
              <a:t>White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16052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Aptos"/>
              </a:rPr>
              <a:t>Cards / surfaces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526280"/>
            <a:ext cx="2743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#FFFFFF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731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Status: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17320" y="562356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16834B"/>
          </a:solidFill>
          <a:ln>
            <a:solidFill>
              <a:srgbClr val="16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09928" y="5568696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Positive / Growth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562356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41648" y="5568696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Warning / Neutral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562356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8" y="5568696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Negative / Decline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02  BACKGROUND &amp; SURFACE COLOURS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warm-white surfaces to create depth while keeping Amul red as the structural anchor.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FF9E8"/>
          </a:solidFill>
          <a:ln>
            <a:solidFill>
              <a:srgbClr val="FFF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Page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Report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694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#FFF9E8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9476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Visual 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585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Cards /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5694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#FFFFFF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7830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6F4EC"/>
          </a:solidFill>
          <a:ln>
            <a:solidFill>
              <a:srgbClr val="F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476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Alt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2585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Tables / matrices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694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#F6F4EC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D9D9D2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5478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Border /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8587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Dividers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1696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#D9D9D2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35478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Section Strip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8587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Selection / emphasis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1696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#FCEBED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38328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>
            <a:solidFill>
              <a:srgbClr val="E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3547872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Aptos"/>
              </a:rPr>
              <a:t>Positive Strip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8587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Good /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169664"/>
            <a:ext cx="2743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Aptos"/>
              </a:rPr>
              <a:t>#EAF6EF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94960"/>
            <a:ext cx="10515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31B23"/>
                </a:solidFill>
                <a:latin typeface="Aptos"/>
              </a:rPr>
              <a:t>Recommended canvas #FFF9E8  |  Card fill #FFFFFF  |  Avoid dark/black report canvases.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03  CHART COLOUR USAGE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colour to communicate meaning, not decoration. Follow a fixed series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F7C600"/>
          </a:solidFill>
          <a:ln>
            <a:solidFill>
              <a:srgbClr val="F7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087A3D"/>
          </a:solidFill>
          <a:ln>
            <a:solidFill>
              <a:srgbClr val="08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0057A8"/>
          </a:solidFill>
          <a:ln>
            <a:solidFill>
              <a:srgbClr val="00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8E3B46"/>
          </a:solidFill>
          <a:ln>
            <a:solidFill>
              <a:srgbClr val="8E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59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5E9C76"/>
          </a:solidFill>
          <a:ln>
            <a:solidFill>
              <a:srgbClr val="5E9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19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C58B2A"/>
          </a:solidFill>
          <a:ln>
            <a:solidFill>
              <a:srgbClr val="C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19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783080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1901952"/>
            <a:ext cx="98755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697480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Single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697480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Use Amul Red. Yellow is an accent, not the default fill.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Multi-series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227832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Follow the palette order; never assign colours randomly.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758184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Positive / negative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758184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Green = positive; red = negative.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88536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Highlight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288536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Yellow highlights one selected bar, KPI or callout.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18888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Totals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818888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Use red/charcoal; reserve green/red for directional meaning.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49240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Gradients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349240"/>
            <a:ext cx="8686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Avoid gradients; use solid fills for clean reporting.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04  BAR &amp; COLUMN CHART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bars for rankings and columns for compact comparisons or time-based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58368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Sales by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Milk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2624328"/>
            <a:ext cx="3827678" cy="246888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587752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02020"/>
                </a:solidFill>
                <a:latin typeface="Aptos"/>
              </a:rPr>
              <a:t>₹92L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Butter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3191256"/>
            <a:ext cx="3245205" cy="246888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02020"/>
                </a:solidFill>
                <a:latin typeface="Aptos"/>
              </a:rPr>
              <a:t>₹78L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Cheese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3758183"/>
            <a:ext cx="2662732" cy="246888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721608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02020"/>
                </a:solidFill>
                <a:latin typeface="Aptos"/>
              </a:rPr>
              <a:t>₹64L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06824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Ice Cream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325112"/>
            <a:ext cx="2121865" cy="246888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288536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02020"/>
                </a:solidFill>
                <a:latin typeface="Aptos"/>
              </a:rPr>
              <a:t>₹51L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73752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Beverages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892040"/>
            <a:ext cx="1789023" cy="246888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85546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02020"/>
                </a:solidFill>
                <a:latin typeface="Aptos"/>
              </a:rPr>
              <a:t>₹43L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40680"/>
            <a:ext cx="21945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Sort: descending by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82880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Chart 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82880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White fill; 1pt light border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432304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Axes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432304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Muted labels; hide unnecessary axis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3580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Gridlines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035808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Minimal; value-axis only where useful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639312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Labels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639312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Show when they improve readability; 9–10pt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242816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Legend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242816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Hide for single series; bottom for multi-series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84632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Titles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84632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Bold, concise, 11–13pt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05  LINE &amp; AREA CHART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line charts for trend comparison; use area only when the filled area adds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58368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4389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Monthly Sales — Current Year vs Prior Year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097280" y="4480560"/>
            <a:ext cx="731520" cy="41148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4480560"/>
            <a:ext cx="731520" cy="9144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60320" y="3886200"/>
            <a:ext cx="731520" cy="68580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3886200"/>
            <a:ext cx="731520" cy="27432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23360" y="3383280"/>
            <a:ext cx="731520" cy="77724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3383280"/>
            <a:ext cx="731520" cy="27432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486400" y="3063240"/>
            <a:ext cx="731520" cy="594360"/>
          </a:xfrm>
          <a:prstGeom prst="line">
            <a:avLst/>
          </a:prstGeom>
          <a:ln w="29209">
            <a:solidFill>
              <a:srgbClr val="E31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97280" y="4846320"/>
            <a:ext cx="731520" cy="27432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4846320"/>
            <a:ext cx="731520" cy="13716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60320" y="4434840"/>
            <a:ext cx="731520" cy="54864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40" y="4434840"/>
            <a:ext cx="731520" cy="13716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023360" y="4023360"/>
            <a:ext cx="731520" cy="54864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80" y="4023360"/>
            <a:ext cx="731520" cy="13716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6400" y="3703320"/>
            <a:ext cx="731520" cy="457200"/>
          </a:xfrm>
          <a:prstGeom prst="line">
            <a:avLst/>
          </a:prstGeom>
          <a:ln w="29209">
            <a:solidFill>
              <a:srgbClr val="F7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" y="239572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23317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Current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239572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F7C600"/>
          </a:solidFill>
          <a:ln>
            <a:solidFill>
              <a:srgbClr val="F7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0" y="2331720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Prior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2880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Primary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182880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2.5pt Amul 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432304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432304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1.5–2pt Amul Yellow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03580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Markers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035808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Off for dense monthly series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639312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639312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Prefer final-point labels or tooltip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242816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Area fill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242816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Single series only; 20–30% opacity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84632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Aptos"/>
              </a:rPr>
              <a:t>Axes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84632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No category gridlines; subtle value gridlines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06  DONUT, PIE &amp; KPI CARD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donuts for simple composition shares and KPI cards for the most important business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749039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Sales Mix</a:t>
            </a:r>
          </a:p>
        </p:txBody>
      </p:sp>
      <p:sp>
        <p:nvSpPr>
          <p:cNvPr id="11" name="Oval 10"/>
          <p:cNvSpPr/>
          <p:nvPr/>
        </p:nvSpPr>
        <p:spPr>
          <a:xfrm>
            <a:off x="1325880" y="2788920"/>
            <a:ext cx="1920240" cy="1920240"/>
          </a:xfrm>
          <a:prstGeom prst="ellipse">
            <a:avLst/>
          </a:prstGeom>
          <a:noFill/>
          <a:ln w="3048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99032" y="2862072"/>
            <a:ext cx="1773936" cy="1773936"/>
          </a:xfrm>
          <a:prstGeom prst="ellipse">
            <a:avLst/>
          </a:prstGeom>
          <a:noFill/>
          <a:ln w="203200">
            <a:solidFill>
              <a:srgbClr val="08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72184" y="2935224"/>
            <a:ext cx="1627632" cy="1627632"/>
          </a:xfrm>
          <a:prstGeom prst="ellipse">
            <a:avLst/>
          </a:prstGeom>
          <a:noFill/>
          <a:ln w="127000">
            <a:solidFill>
              <a:srgbClr val="F7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47088" y="33375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Aptos"/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5488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ptos"/>
              </a:rPr>
              <a:t>Top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783080"/>
            <a:ext cx="196596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65192" y="1993392"/>
            <a:ext cx="1645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TOTAL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304288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Aptos"/>
              </a:rPr>
              <a:t>₹3.54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770632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087A3D"/>
                </a:solidFill>
                <a:latin typeface="Aptos"/>
              </a:rPr>
              <a:t>▲ 12.4%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783080"/>
            <a:ext cx="196596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1993392"/>
            <a:ext cx="1645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2304288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Aptos"/>
              </a:rPr>
              <a:t>₹1.12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770632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087A3D"/>
                </a:solidFill>
                <a:latin typeface="Aptos"/>
              </a:rPr>
              <a:t>▲ 8.7%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783080"/>
            <a:ext cx="196596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1993392"/>
            <a:ext cx="1645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AOV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304288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Aptos"/>
              </a:rPr>
              <a:t>₹1,390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770632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D92D20"/>
                </a:solidFill>
                <a:latin typeface="Aptos"/>
              </a:rPr>
              <a:t>▼ 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7033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ptos"/>
              </a:rPr>
              <a:t>KPI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133087"/>
            <a:ext cx="6309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• One business question per card.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462272"/>
            <a:ext cx="6309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• Value 24–28pt; label 8–10pt.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791455"/>
            <a:ext cx="6309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• Green/red only for directional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120640"/>
            <a:ext cx="6309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• Avoid decorative icons unless meaningful.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449823"/>
            <a:ext cx="6309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• Donut: 4–6 segments max; group remainder as Other.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07  TABLE &amp; MATRIX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Tables should emphasize ranking, exceptions and totals instead of decoration.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8356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993392"/>
            <a:ext cx="2834640" cy="41148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57400"/>
            <a:ext cx="268833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993392"/>
            <a:ext cx="1645920" cy="41148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057400"/>
            <a:ext cx="149961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993392"/>
            <a:ext cx="1554480" cy="41148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2057400"/>
            <a:ext cx="140817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993392"/>
            <a:ext cx="1645920" cy="41148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6872" y="2057400"/>
            <a:ext cx="149961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Margin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993392"/>
            <a:ext cx="1828800" cy="411480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2792" y="2057400"/>
            <a:ext cx="16824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YoY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404872"/>
            <a:ext cx="9509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2532888"/>
            <a:ext cx="268833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Amul Taaza Milk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53288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₹42.3L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532888"/>
            <a:ext cx="140817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12,480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53288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31.4%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532888"/>
            <a:ext cx="168249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1">
                <a:solidFill>
                  <a:srgbClr val="16834B"/>
                </a:solidFill>
                <a:latin typeface="Aptos"/>
              </a:rPr>
              <a:t>+14.8%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2907791"/>
            <a:ext cx="9509760" cy="502920"/>
          </a:xfrm>
          <a:prstGeom prst="rect">
            <a:avLst/>
          </a:prstGeom>
          <a:solidFill>
            <a:srgbClr val="F6F4EC"/>
          </a:solidFill>
          <a:ln>
            <a:solidFill>
              <a:srgbClr val="F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035808"/>
            <a:ext cx="268833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Amul Butter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303580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₹38.7L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3035808"/>
            <a:ext cx="140817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9,840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303580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34.2%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3035808"/>
            <a:ext cx="168249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1">
                <a:solidFill>
                  <a:srgbClr val="16834B"/>
                </a:solidFill>
                <a:latin typeface="Aptos"/>
              </a:rPr>
              <a:t>+10.2%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410712"/>
            <a:ext cx="9509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" y="3538728"/>
            <a:ext cx="268833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Amul Gold Milk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53872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₹31.6L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392" y="3538728"/>
            <a:ext cx="140817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8,950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53872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29.8%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538728"/>
            <a:ext cx="168249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1">
                <a:solidFill>
                  <a:srgbClr val="16834B"/>
                </a:solidFill>
                <a:latin typeface="Aptos"/>
              </a:rPr>
              <a:t>+7.4%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3913632"/>
            <a:ext cx="9509760" cy="502920"/>
          </a:xfrm>
          <a:prstGeom prst="rect">
            <a:avLst/>
          </a:prstGeom>
          <a:solidFill>
            <a:srgbClr val="F6F4EC"/>
          </a:solidFill>
          <a:ln>
            <a:solidFill>
              <a:srgbClr val="F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1832" y="4041648"/>
            <a:ext cx="268833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Amul Cheese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472" y="404164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₹27.1L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2392" y="4041648"/>
            <a:ext cx="140817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6,210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4041648"/>
            <a:ext cx="149961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0">
                <a:solidFill>
                  <a:srgbClr val="202020"/>
                </a:solidFill>
                <a:latin typeface="Aptos"/>
              </a:rPr>
              <a:t>33.1%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4041648"/>
            <a:ext cx="1682496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80" b="1">
                <a:solidFill>
                  <a:srgbClr val="D92D20"/>
                </a:solidFill>
                <a:latin typeface="Aptos"/>
              </a:rPr>
              <a:t>-2.3%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74920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Header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074920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Amul Red fill; white bold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12664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Rows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312664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White + warm-gray alternate rows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550408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Totals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550408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Bold; subtle highlight fill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788152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Alignment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788152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Text left; numeric/currency right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025896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Conditional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6025896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Green positive; red negative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263640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02020"/>
                </a:solidFill>
                <a:latin typeface="Aptos"/>
              </a:rPr>
              <a:t>Gridlines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6263640"/>
            <a:ext cx="4480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Horizontal only; hide vertical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08  TYPOGRAPHY &amp; FONT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one primary type family. Aptos is recommended for modern Power BI readability.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KPI Card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28pt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830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Aptos Display"/>
              </a:rPr>
              <a:t>₹3.54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04288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Page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0428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22–26pt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304288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58568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Aptos Display"/>
              </a:rPr>
              <a:t>Executive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25496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Section Heading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25496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13–15pt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825496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79776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Sales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46704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Visual Title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346704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11–13pt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346704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Bold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300984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Sales by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67911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Axis / Data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67911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9–10pt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867911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Regular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82219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Jan  Feb  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Table Body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38912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9–10pt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3891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Regular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34340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Amul Butter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10328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Legend / Caption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91032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8–9pt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910328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Regular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864608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2025 vs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31536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Tooltip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431536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E31B23"/>
                </a:solidFill>
                <a:latin typeface="Aptos"/>
              </a:rPr>
              <a:t>9pt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431536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Aptos"/>
              </a:rPr>
              <a:t>Regular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385816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Aptos"/>
              </a:rPr>
              <a:t>Prior Year: ₹2.9 Cr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1783080"/>
            <a:ext cx="1828800" cy="4160520"/>
          </a:xfrm>
          <a:prstGeom prst="roundRect">
            <a:avLst>
              <a:gd name="adj" fmla="val 12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75520" y="205740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NUMBER 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60604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₹3.54 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01752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₹1.12 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42900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₹1,390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84048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38.3%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425196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+12.4%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66344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-1.8%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074920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#1 / #2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09  LAYOUT, SLICERS &amp;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a 1920 × 1080 working canvas with consistent margins, a compact header and collapsible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7315200" cy="4114800"/>
          </a:xfrm>
          <a:prstGeom prst="roundRect">
            <a:avLst>
              <a:gd name="adj" fmla="val 12000"/>
            </a:avLst>
          </a:prstGeom>
          <a:solidFill>
            <a:srgbClr val="FAFAF7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7040880" cy="502920"/>
          </a:xfrm>
          <a:prstGeom prst="roundRect">
            <a:avLst>
              <a:gd name="adj" fmla="val 12000"/>
            </a:avLst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6492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AMUL   |   PAGE TITLE                                  FILTERS  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51760"/>
            <a:ext cx="11430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9806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Aptos"/>
              </a:rPr>
              <a:t>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2651760"/>
            <a:ext cx="11430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58568" y="279806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Aptos"/>
              </a:rPr>
              <a:t>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2651760"/>
            <a:ext cx="11430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2736" y="279806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Aptos"/>
              </a:rPr>
              <a:t>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6904" y="2651760"/>
            <a:ext cx="11430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46904" y="279806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Aptos"/>
              </a:rPr>
              <a:t>AOV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651760"/>
            <a:ext cx="11430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279806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Aptos"/>
              </a:rPr>
              <a:t>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11880"/>
            <a:ext cx="42519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49240" y="36118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5504688"/>
            <a:ext cx="6263640" cy="164592"/>
          </a:xfrm>
          <a:prstGeom prst="rect">
            <a:avLst/>
          </a:prstGeom>
          <a:solidFill>
            <a:srgbClr val="FFF6CC"/>
          </a:solidFill>
          <a:ln>
            <a:solidFill>
              <a:srgbClr val="FFF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1828800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Margins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82880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32–40px breathing room from canvas edges.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4144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Header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441448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50–65px; red as a structural anchor.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054096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KPI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054096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4–5 equal cards; consistent height.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66744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Slicers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666744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Use a collapsible filter panel.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79392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279392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Page Navigator or compact side drawer.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92040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02020"/>
                </a:solidFill>
                <a:latin typeface="Aptos"/>
              </a:rPr>
              <a:t>Visual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89204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6B7280"/>
                </a:solidFill>
                <a:latin typeface="Aptos"/>
              </a:rPr>
              <a:t>16–20px between adjacent visuals.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10  INTERACTION &amp; ADVANCED POWER BI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Use advanced features where they reduce clutter or help users answer a business question faster.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892807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Bookmark Filter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56231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Open / close a right-side filter drawer; include Reset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892807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Bookmark View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56231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Toggle Sales ↔ Profitability or Returns ↔ Marketing.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4320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285292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Field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1635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Switch charts between Sales, Profit, Quantity and Orders.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4320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74320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285292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Drill-through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1635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Product / Store detail pages with contextual filters.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0332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70332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81304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Report-page Tooltip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7647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Show product image, KPIs and mini-trend on hover.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0332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70332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381304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Sync Slicers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77647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Keep Year / Region / Category selections consistent.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6344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466344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477316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Dynamic Titles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73659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Reflect selected Region, Category or Period.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5166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663440"/>
            <a:ext cx="109728" cy="749808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9672" y="4773168"/>
            <a:ext cx="1965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2020"/>
                </a:solidFill>
                <a:latin typeface="Aptos"/>
              </a:rPr>
              <a:t>Selection Pane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736592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0" b="0">
                <a:solidFill>
                  <a:srgbClr val="6B7280"/>
                </a:solidFill>
                <a:latin typeface="Aptos"/>
              </a:rPr>
              <a:t>Control layered objects, navigation states and bookmark views.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06440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31B23"/>
                </a:solidFill>
                <a:latin typeface="Aptos"/>
              </a:rPr>
              <a:t>UX principle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769864"/>
            <a:ext cx="89611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020"/>
                </a:solidFill>
                <a:latin typeface="Aptos"/>
              </a:rPr>
              <a:t>Every interaction should reduce clutter, reveal detail, or accelerate a business decision.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Aptos Display"/>
              </a:rP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0080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087A3D"/>
                </a:solidFill>
                <a:latin typeface="Aptos"/>
              </a:rP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"/>
            <a:ext cx="6766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ptos"/>
              </a:rPr>
              <a:t>11  DO'S &amp; DON'TS 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Review this checklist before publishing every Amul Power BI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349240" cy="443484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>
            <a:solidFill>
              <a:srgbClr val="E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349240" cy="4434840"/>
          </a:xfrm>
          <a:prstGeom prst="roundRect">
            <a:avLst>
              <a:gd name="adj" fmla="val 12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6834B"/>
                </a:solidFill>
                <a:latin typeface="Aptos"/>
              </a:rPr>
              <a:t>✓ 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92D20"/>
                </a:solidFill>
                <a:latin typeface="Aptos"/>
              </a:rPr>
              <a:t>✕  DON'T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Use Amul Red as the primary single-series colour.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Use green/red consistently for positive/negative meaning.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57016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Keep the warm-white canvas and white visual cards.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32504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Use compact KPI cards with clear definitions.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07992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Use bookmarks, tooltips and drill-through to reduce clutter.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Keep spacing and alignment consistent.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58968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Use product images only where they add decision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use random colours across charts.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81528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use gradients, 3D effects or decorative glows.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57016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overload a page with too many slicers.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32504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use donut charts with many tiny segments.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07992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leave default Power BI table styling untouched.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983480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use images as decoration when a chart communicates better.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58968"/>
            <a:ext cx="4709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202020"/>
                </a:solidFill>
                <a:latin typeface="Aptos"/>
              </a:rPr>
              <a:t>• Don't treat this as an official Amul corporate brand manual.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2700">
            <a:solidFill>
              <a:srgbClr val="D9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565392"/>
            <a:ext cx="4572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AMUL • POWER BI DEVELOPER GUIDELINES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1373</Words>
  <Application>Microsoft Office PowerPoint</Application>
  <PresentationFormat>Widescreen</PresentationFormat>
  <Paragraphs>361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C Gopi Mohan</cp:lastModifiedBy>
  <cp:revision>2</cp:revision>
  <dcterms:created xsi:type="dcterms:W3CDTF">2013-01-27T09:14:16Z</dcterms:created>
  <dcterms:modified xsi:type="dcterms:W3CDTF">2026-08-07T12:38:52Z</dcterms:modified>
  <cp:category/>
</cp:coreProperties>
</file>